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4"/>
    <p:sldMasterId id="2147483663" r:id="rId5"/>
  </p:sldMasterIdLst>
  <p:notesMasterIdLst>
    <p:notesMasterId r:id="rId6"/>
  </p:notesMasterIdLst>
  <p:sldIdLst>
    <p:sldId id="256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1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a4e7a1312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2a4e7a1312d_0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Background Poster">
  <p:cSld name="Blue Background Post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0" y="607219"/>
            <a:ext cx="9144000" cy="453630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2025" lIns="24075" spcFirstLastPara="1" rIns="24075" wrap="square" tIns="12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" name="Google Shape;53;p14"/>
          <p:cNvCxnSpPr/>
          <p:nvPr/>
        </p:nvCxnSpPr>
        <p:spPr>
          <a:xfrm>
            <a:off x="0" y="631031"/>
            <a:ext cx="9144000" cy="0"/>
          </a:xfrm>
          <a:prstGeom prst="straightConnector1">
            <a:avLst/>
          </a:prstGeom>
          <a:noFill/>
          <a:ln cap="flat" cmpd="sng" w="3810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pic>
        <p:nvPicPr>
          <p:cNvPr id="54" name="Google Shape;5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26111" y="4575721"/>
            <a:ext cx="1470423" cy="413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Background Poster">
  <p:cSld name="Orange Background Post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607219"/>
            <a:ext cx="9144000" cy="45363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2025" lIns="24075" spcFirstLastPara="1" rIns="24075" wrap="square" tIns="12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" name="Google Shape;57;p15"/>
          <p:cNvCxnSpPr/>
          <p:nvPr/>
        </p:nvCxnSpPr>
        <p:spPr>
          <a:xfrm>
            <a:off x="0" y="631031"/>
            <a:ext cx="9144000" cy="0"/>
          </a:xfrm>
          <a:prstGeom prst="straightConnector1">
            <a:avLst/>
          </a:prstGeom>
          <a:noFill/>
          <a:ln cap="flat" cmpd="sng" w="3810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pic>
        <p:nvPicPr>
          <p:cNvPr id="58" name="Google Shape;5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48500" y="4575721"/>
            <a:ext cx="1470423" cy="413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10" Type="http://schemas.openxmlformats.org/officeDocument/2006/relationships/image" Target="../media/image3.png"/><Relationship Id="rId9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/>
          <p:nvPr/>
        </p:nvSpPr>
        <p:spPr>
          <a:xfrm>
            <a:off x="2393375" y="896800"/>
            <a:ext cx="1869000" cy="41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3200" lIns="63200" spcFirstLastPara="1" rIns="63200" wrap="square" tIns="63200">
            <a:noAutofit/>
          </a:bodyPr>
          <a:lstStyle/>
          <a:p>
            <a:pPr indent="-63500" lvl="0" marL="63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b="1" sz="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/>
              <a:t>The SSNE-STaR program is designed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/>
              <a:t>around three interconnected cores that collaboratively support Scholars in achieving program goals. Each core plays a distinct role in fostering a comprehensive learning environment:</a:t>
            </a:r>
            <a:endParaRPr sz="500"/>
          </a:p>
          <a:p>
            <a:pPr indent="-31750" lvl="0" marL="114300" rtl="0" algn="l">
              <a:spcBef>
                <a:spcPts val="0"/>
              </a:spcBef>
              <a:spcAft>
                <a:spcPts val="0"/>
              </a:spcAft>
              <a:buSzPts val="500"/>
              <a:buChar char="●"/>
            </a:pPr>
            <a:r>
              <a:rPr lang="en" sz="500"/>
              <a:t>The </a:t>
            </a:r>
            <a:r>
              <a:rPr b="1" lang="en" sz="500"/>
              <a:t>Administration Core</a:t>
            </a:r>
            <a:r>
              <a:rPr lang="en" sz="500"/>
              <a:t> ensures smooth operations and provides essential logistical and collaborative support.</a:t>
            </a:r>
            <a:endParaRPr sz="500"/>
          </a:p>
          <a:p>
            <a:pPr indent="-31750" lvl="0" marL="114300" rtl="0" algn="l">
              <a:spcBef>
                <a:spcPts val="0"/>
              </a:spcBef>
              <a:spcAft>
                <a:spcPts val="0"/>
              </a:spcAft>
              <a:buSzPts val="500"/>
              <a:buChar char="●"/>
            </a:pPr>
            <a:r>
              <a:rPr lang="en" sz="500"/>
              <a:t>The </a:t>
            </a:r>
            <a:r>
              <a:rPr b="1" lang="en" sz="500"/>
              <a:t>Research Education Core</a:t>
            </a:r>
            <a:r>
              <a:rPr lang="en" sz="500"/>
              <a:t> (REC) focuses on mentorship, education, and facilitating translational research.</a:t>
            </a:r>
            <a:endParaRPr sz="500"/>
          </a:p>
          <a:p>
            <a:pPr indent="-31750" lvl="0" marL="114300" rtl="0" algn="l">
              <a:spcBef>
                <a:spcPts val="0"/>
              </a:spcBef>
              <a:spcAft>
                <a:spcPts val="0"/>
              </a:spcAft>
              <a:buSzPts val="500"/>
              <a:buChar char="●"/>
            </a:pPr>
            <a:r>
              <a:rPr lang="en" sz="500"/>
              <a:t>The </a:t>
            </a:r>
            <a:r>
              <a:rPr b="1" lang="en" sz="500"/>
              <a:t>Research Data Analysis Core</a:t>
            </a:r>
            <a:r>
              <a:rPr lang="en" sz="500"/>
              <a:t> (RDAC) equips Scholars with the tools and data necessary for conducting impactful, equity-focused research.</a:t>
            </a:r>
            <a:endParaRPr sz="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700" u="sng">
                <a:solidFill>
                  <a:schemeClr val="dk2"/>
                </a:solidFill>
              </a:rPr>
              <a:t>Mentorship, Projects, and Rapid Implementers</a:t>
            </a:r>
            <a:endParaRPr b="1" sz="700" u="sng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">
                <a:solidFill>
                  <a:schemeClr val="dk1"/>
                </a:solidFill>
              </a:rPr>
              <a:t>The SSNE-STaR program pairs each Scholar with two mentors: an </a:t>
            </a:r>
            <a:r>
              <a:rPr b="1" lang="en" sz="550">
                <a:solidFill>
                  <a:schemeClr val="dk1"/>
                </a:solidFill>
              </a:rPr>
              <a:t>ASU Research Mentor</a:t>
            </a:r>
            <a:r>
              <a:rPr lang="en" sz="550">
                <a:solidFill>
                  <a:schemeClr val="dk1"/>
                </a:solidFill>
              </a:rPr>
              <a:t> for guidance on CER/PCOR methods and a </a:t>
            </a:r>
            <a:r>
              <a:rPr b="1" lang="en" sz="550">
                <a:solidFill>
                  <a:schemeClr val="dk1"/>
                </a:solidFill>
              </a:rPr>
              <a:t>Clinical Mentor</a:t>
            </a:r>
            <a:r>
              <a:rPr lang="en" sz="550">
                <a:solidFill>
                  <a:schemeClr val="dk1"/>
                </a:solidFill>
              </a:rPr>
              <a:t> to support real-world application in healthcare settings. Mentors meet with Scholars monthly to provide tailored support and foster professional growth.</a:t>
            </a:r>
            <a:endParaRPr sz="5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50">
                <a:solidFill>
                  <a:schemeClr val="dk1"/>
                </a:solidFill>
              </a:rPr>
              <a:t>Scholar Research Project. </a:t>
            </a:r>
            <a:r>
              <a:rPr lang="en" sz="550">
                <a:solidFill>
                  <a:schemeClr val="dk1"/>
                </a:solidFill>
              </a:rPr>
              <a:t>Each Scholar will develop and implement a research project of their choosing applying PCOR and CER methods. </a:t>
            </a:r>
            <a:endParaRPr sz="5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chemeClr val="dk1"/>
                </a:solidFill>
              </a:rPr>
              <a:t>Rapid Implementers</a:t>
            </a:r>
            <a:r>
              <a:rPr lang="en" sz="550">
                <a:solidFill>
                  <a:schemeClr val="dk1"/>
                </a:solidFill>
              </a:rPr>
              <a:t> collaborate with Scholars in Year 2 to </a:t>
            </a:r>
            <a:r>
              <a:rPr lang="en" sz="550">
                <a:solidFill>
                  <a:schemeClr val="dk1"/>
                </a:solidFill>
              </a:rPr>
              <a:t>disseminate</a:t>
            </a:r>
            <a:r>
              <a:rPr lang="en" sz="550">
                <a:solidFill>
                  <a:schemeClr val="dk1"/>
                </a:solidFill>
              </a:rPr>
              <a:t> research findings into practice, ensuring alignment with the needs of underserved populations. They assist with implementation strategies and provide valuable feedback to bridge the gap between research and patient care.</a:t>
            </a:r>
            <a:endParaRPr sz="5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-57150" lvl="0" marL="14287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-57150" lvl="0" marL="142875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65" name="Google Shape;65;p17"/>
          <p:cNvSpPr/>
          <p:nvPr/>
        </p:nvSpPr>
        <p:spPr>
          <a:xfrm>
            <a:off x="139700" y="1872775"/>
            <a:ext cx="2158800" cy="83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3200" lIns="173725" spcFirstLastPara="1" rIns="63200" wrap="square" tIns="6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AIM</a:t>
            </a:r>
            <a:r>
              <a:rPr b="1" lang="en" sz="700" u="sng">
                <a:solidFill>
                  <a:schemeClr val="dk2"/>
                </a:solidFill>
              </a:rPr>
              <a:t>S</a:t>
            </a:r>
            <a:endParaRPr b="1" sz="700" u="sng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SSNE-STaR equips embedded scholars to design, conduct, and disseminate/implement CER/PCOR projects within safety net systems. Early outcomes demonstrate growing research capacity, cross-institutional collaboration, and rapid dissemination potential.</a:t>
            </a:r>
            <a:endParaRPr sz="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4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</p:txBody>
      </p:sp>
      <p:sp>
        <p:nvSpPr>
          <p:cNvPr id="66" name="Google Shape;66;p17"/>
          <p:cNvSpPr/>
          <p:nvPr/>
        </p:nvSpPr>
        <p:spPr>
          <a:xfrm>
            <a:off x="139700" y="896800"/>
            <a:ext cx="2158800" cy="88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3200" lIns="63200" spcFirstLastPara="1" rIns="63200" wrap="square" tIns="6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The Southwest Safety Net Embedded Scientist Training and Research (SSNE-STaR) Center is an AHRQ/PCORI-funded Learning Health System Center designed to build embedded Comparative Effectiveness Research and Patient-Centered Outcomes Research (CER/PCOR) capacity within safety net organizations serving medically underserved populations.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 </a:t>
            </a:r>
            <a:endParaRPr sz="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</p:txBody>
      </p:sp>
      <p:sp>
        <p:nvSpPr>
          <p:cNvPr id="67" name="Google Shape;67;p17"/>
          <p:cNvSpPr/>
          <p:nvPr/>
        </p:nvSpPr>
        <p:spPr>
          <a:xfrm>
            <a:off x="7298850" y="896800"/>
            <a:ext cx="1749600" cy="124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3200" lIns="63200" spcFirstLastPara="1" rIns="63200" wrap="square" tIns="6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1" sz="700">
              <a:solidFill>
                <a:srgbClr val="CC330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">
                <a:solidFill>
                  <a:schemeClr val="dk1"/>
                </a:solidFill>
              </a:rPr>
              <a:t>Since its launch, SSNE-STaR has enrolled </a:t>
            </a:r>
            <a:r>
              <a:rPr b="1" lang="en" sz="550">
                <a:solidFill>
                  <a:schemeClr val="dk1"/>
                </a:solidFill>
              </a:rPr>
              <a:t>18 scholars</a:t>
            </a:r>
            <a:r>
              <a:rPr lang="en" sz="550">
                <a:solidFill>
                  <a:schemeClr val="dk1"/>
                </a:solidFill>
              </a:rPr>
              <a:t>, with </a:t>
            </a:r>
            <a:r>
              <a:rPr b="1" lang="en" sz="550">
                <a:solidFill>
                  <a:schemeClr val="dk1"/>
                </a:solidFill>
              </a:rPr>
              <a:t>16 currently active and embedded</a:t>
            </a:r>
            <a:r>
              <a:rPr lang="en" sz="550">
                <a:solidFill>
                  <a:schemeClr val="dk1"/>
                </a:solidFill>
              </a:rPr>
              <a:t> across Arizona safety net health systems. Enrollment has surpassed the original 12-scholar target, demonstrating strong demand for structured CER/PCOR training within clinical settings. Scholars represent major partner organizations, including Banner Health, Valleywise Health, District Medical Group, Phoenix Children’s Hospital, and </a:t>
            </a:r>
            <a:r>
              <a:rPr b="1" lang="en" sz="550">
                <a:solidFill>
                  <a:schemeClr val="dk1"/>
                </a:solidFill>
              </a:rPr>
              <a:t>Barrow Neurological Institute</a:t>
            </a:r>
            <a:r>
              <a:rPr lang="en" sz="550">
                <a:solidFill>
                  <a:schemeClr val="dk1"/>
                </a:solidFill>
              </a:rPr>
              <a:t>.</a:t>
            </a:r>
            <a:endParaRPr sz="55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CC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7"/>
          <p:cNvSpPr/>
          <p:nvPr/>
        </p:nvSpPr>
        <p:spPr>
          <a:xfrm>
            <a:off x="275175" y="445825"/>
            <a:ext cx="77046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0" lIns="16025" spcFirstLastPara="1" rIns="16025" wrap="square" tIns="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2"/>
                </a:solidFill>
              </a:rPr>
              <a:t>Advancing the Southwest Safety Net Embedded Scientist </a:t>
            </a:r>
            <a:r>
              <a:rPr b="1" lang="en" sz="900">
                <a:solidFill>
                  <a:schemeClr val="dk2"/>
                </a:solidFill>
              </a:rPr>
              <a:t>Research</a:t>
            </a:r>
            <a:r>
              <a:rPr b="1" lang="en" sz="900">
                <a:solidFill>
                  <a:schemeClr val="dk2"/>
                </a:solidFill>
              </a:rPr>
              <a:t> and Training (SSNE-STaR) Center</a:t>
            </a:r>
            <a:br>
              <a:rPr b="1" lang="en" sz="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Roshini Moodley Naidoo MBChB, MBA</a:t>
            </a:r>
            <a:r>
              <a:rPr b="1" lang="en" sz="600">
                <a:solidFill>
                  <a:schemeClr val="dk2"/>
                </a:solidFill>
              </a:rPr>
              <a:t>, MPH,</a:t>
            </a:r>
            <a:r>
              <a:rPr b="1"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Matthew Martin</a:t>
            </a:r>
            <a:r>
              <a:rPr b="1" lang="en" sz="600">
                <a:solidFill>
                  <a:schemeClr val="dk2"/>
                </a:solidFill>
              </a:rPr>
              <a:t> PhD, </a:t>
            </a:r>
            <a:r>
              <a:rPr b="1"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Lauren Baker MS,</a:t>
            </a:r>
            <a:r>
              <a:rPr b="1" lang="en" sz="600">
                <a:solidFill>
                  <a:schemeClr val="dk2"/>
                </a:solidFill>
              </a:rPr>
              <a:t> Marisa Domino PhD, Punam Ohri-Vachaspati, PhD, Adela Grando, PhD, Anita Murcko, MD, William Riley, PhD</a:t>
            </a:r>
            <a:endParaRPr b="1" sz="600">
              <a:solidFill>
                <a:schemeClr val="dk2"/>
              </a:solidFill>
              <a:highlight>
                <a:srgbClr val="00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College of Health Solutions, Arizona State University</a:t>
            </a:r>
            <a:endParaRPr b="1" sz="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">
              <a:solidFill>
                <a:schemeClr val="dk2"/>
              </a:solidFill>
            </a:endParaRPr>
          </a:p>
        </p:txBody>
      </p:sp>
      <p:pic>
        <p:nvPicPr>
          <p:cNvPr id="69" name="Google Shape;6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0700" y="2223650"/>
            <a:ext cx="1080276" cy="10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700" y="4718262"/>
            <a:ext cx="1304699" cy="2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9500" y="4826149"/>
            <a:ext cx="1006861" cy="19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37776" y="4597825"/>
            <a:ext cx="1280943" cy="672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/>
          <p:nvPr/>
        </p:nvSpPr>
        <p:spPr>
          <a:xfrm>
            <a:off x="139700" y="2792350"/>
            <a:ext cx="2158800" cy="171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3200" lIns="63200" spcFirstLastPara="1" rIns="63200" wrap="square" tIns="6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 u="sng">
                <a:solidFill>
                  <a:schemeClr val="dk2"/>
                </a:solidFill>
              </a:rPr>
              <a:t>PARTNERS</a:t>
            </a:r>
            <a:endParaRPr b="1" sz="700" u="sng">
              <a:solidFill>
                <a:schemeClr val="dk2"/>
              </a:solidFill>
            </a:endParaRPr>
          </a:p>
          <a:p>
            <a:pPr indent="0" lvl="0" marL="571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 u="sng">
                <a:solidFill>
                  <a:schemeClr val="dk2"/>
                </a:solidFill>
              </a:rPr>
              <a:t>Researchers</a:t>
            </a:r>
            <a:endParaRPr b="1" sz="700" u="sng">
              <a:solidFill>
                <a:schemeClr val="dk2"/>
              </a:solidFill>
            </a:endParaRPr>
          </a:p>
          <a:p>
            <a:pPr indent="0" lvl="0" marL="571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1"/>
                </a:solidFill>
              </a:rPr>
              <a:t>The SSNE-STaR Center is a CHS center award with investigators </a:t>
            </a:r>
            <a:r>
              <a:rPr lang="en" sz="500">
                <a:solidFill>
                  <a:schemeClr val="dk1"/>
                </a:solidFill>
              </a:rPr>
              <a:t>participating</a:t>
            </a:r>
            <a:r>
              <a:rPr lang="en" sz="500">
                <a:solidFill>
                  <a:schemeClr val="dk1"/>
                </a:solidFill>
              </a:rPr>
              <a:t> across </a:t>
            </a:r>
            <a:r>
              <a:rPr lang="en" sz="500">
                <a:solidFill>
                  <a:schemeClr val="dk1"/>
                </a:solidFill>
              </a:rPr>
              <a:t>disciplines.</a:t>
            </a:r>
            <a:endParaRPr sz="500">
              <a:solidFill>
                <a:schemeClr val="dk1"/>
              </a:solidFill>
            </a:endParaRPr>
          </a:p>
          <a:p>
            <a:pPr indent="0" lvl="0" marL="571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</a:endParaRPr>
          </a:p>
          <a:p>
            <a:pPr indent="0" lvl="0" marL="571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 u="sng">
                <a:solidFill>
                  <a:schemeClr val="dk2"/>
                </a:solidFill>
              </a:rPr>
              <a:t>Sponsors</a:t>
            </a:r>
            <a:endParaRPr b="1" sz="700" u="sng">
              <a:solidFill>
                <a:schemeClr val="dk2"/>
              </a:solidFill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500">
                <a:solidFill>
                  <a:schemeClr val="dk1"/>
                </a:solidFill>
              </a:rPr>
              <a:t>Agency for Healthcare Research and Quality</a:t>
            </a:r>
            <a:r>
              <a:rPr lang="en" sz="500">
                <a:solidFill>
                  <a:schemeClr val="dk1"/>
                </a:solidFill>
              </a:rPr>
              <a:t> (AHRQ) and the </a:t>
            </a:r>
            <a:r>
              <a:rPr b="1" lang="en" sz="500">
                <a:solidFill>
                  <a:schemeClr val="dk1"/>
                </a:solidFill>
              </a:rPr>
              <a:t>Patient-Centered Outcomes Research Institute</a:t>
            </a:r>
            <a:r>
              <a:rPr lang="en" sz="500">
                <a:solidFill>
                  <a:schemeClr val="dk1"/>
                </a:solidFill>
              </a:rPr>
              <a:t> (PCORI)</a:t>
            </a:r>
            <a:endParaRPr sz="500">
              <a:solidFill>
                <a:schemeClr val="dk1"/>
              </a:solidFill>
            </a:endParaRPr>
          </a:p>
          <a:p>
            <a:pPr indent="0" lvl="0" marL="571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571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 u="sng">
                <a:solidFill>
                  <a:schemeClr val="dk2"/>
                </a:solidFill>
              </a:rPr>
              <a:t>Learning Health Systems (LHS) </a:t>
            </a:r>
            <a:endParaRPr b="1" sz="700" u="sng">
              <a:solidFill>
                <a:schemeClr val="dk2"/>
              </a:solidFill>
            </a:endParaRPr>
          </a:p>
          <a:p>
            <a:pPr indent="0" lvl="0" marL="571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1"/>
                </a:solidFill>
              </a:rPr>
              <a:t>SSNE-StaR Center is one of </a:t>
            </a:r>
            <a:r>
              <a:rPr b="1" lang="en" sz="500" u="sng">
                <a:solidFill>
                  <a:schemeClr val="dk1"/>
                </a:solidFill>
              </a:rPr>
              <a:t>16 Learning Health Systems</a:t>
            </a:r>
            <a:r>
              <a:rPr lang="en" sz="500">
                <a:solidFill>
                  <a:schemeClr val="dk1"/>
                </a:solidFill>
              </a:rPr>
              <a:t> participating in the program across the nation.</a:t>
            </a:r>
            <a:endParaRPr sz="500">
              <a:solidFill>
                <a:schemeClr val="dk1"/>
              </a:solidFill>
            </a:endParaRPr>
          </a:p>
          <a:p>
            <a:pPr indent="0" lvl="0" marL="571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 u="sng">
                <a:solidFill>
                  <a:schemeClr val="dk2"/>
                </a:solidFill>
              </a:rPr>
              <a:t>Clinical Partners</a:t>
            </a:r>
            <a:endParaRPr b="1" sz="700" u="sng">
              <a:solidFill>
                <a:schemeClr val="dk2"/>
              </a:solidFill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500">
                <a:solidFill>
                  <a:schemeClr val="dk1"/>
                </a:solidFill>
              </a:rPr>
              <a:t>Valleywise Health System (VH), District Medical Group (DMG), Phoenix Children’s Hospital (PCH), Banner Health (BH), Native Health, Gila River, Mountain Park, Barrow Neurological Institute.</a:t>
            </a:r>
            <a:endParaRPr sz="500">
              <a:solidFill>
                <a:schemeClr val="dk1"/>
              </a:solidFill>
            </a:endParaRPr>
          </a:p>
          <a:p>
            <a:pPr indent="0" lvl="0" marL="571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</a:endParaRPr>
          </a:p>
        </p:txBody>
      </p:sp>
      <p:sp>
        <p:nvSpPr>
          <p:cNvPr id="74" name="Google Shape;74;p17"/>
          <p:cNvSpPr/>
          <p:nvPr/>
        </p:nvSpPr>
        <p:spPr>
          <a:xfrm>
            <a:off x="7298850" y="3574075"/>
            <a:ext cx="1749600" cy="93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3200" lIns="63200" spcFirstLastPara="1" rIns="63200" wrap="square" tIns="6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CONCLUSIONS</a:t>
            </a:r>
            <a:endParaRPr sz="4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The SSNE-STaR Center addresses health disparities by training Scholars, building infrastructure, and fostering equity-focused research. It serves as a replicable model for improving healthcare in underserved populations.</a:t>
            </a:r>
            <a:endParaRPr sz="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</a:endParaRPr>
          </a:p>
        </p:txBody>
      </p:sp>
      <p:pic>
        <p:nvPicPr>
          <p:cNvPr id="75" name="Google Shape;75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56875" y="896800"/>
            <a:ext cx="2847525" cy="16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56850" y="2608325"/>
            <a:ext cx="2847526" cy="19021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7"/>
          <p:cNvSpPr/>
          <p:nvPr/>
        </p:nvSpPr>
        <p:spPr>
          <a:xfrm>
            <a:off x="7298850" y="2300500"/>
            <a:ext cx="1749600" cy="112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51525" lIns="51525" spcFirstLastPara="1" rIns="51525" wrap="square" tIns="5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70" u="sng">
                <a:solidFill>
                  <a:schemeClr val="dk2"/>
                </a:solidFill>
              </a:rPr>
              <a:t>LEARNING HEALTH SYSTEMS (Regional)</a:t>
            </a:r>
            <a:endParaRPr sz="407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7">
              <a:solidFill>
                <a:schemeClr val="dk1"/>
              </a:solidFill>
            </a:endParaRPr>
          </a:p>
        </p:txBody>
      </p:sp>
      <p:pic>
        <p:nvPicPr>
          <p:cNvPr id="78" name="Google Shape;78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75522" y="2491769"/>
            <a:ext cx="1596257" cy="879063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 txBox="1"/>
          <p:nvPr/>
        </p:nvSpPr>
        <p:spPr>
          <a:xfrm>
            <a:off x="6013525" y="4950250"/>
            <a:ext cx="9588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>
                <a:solidFill>
                  <a:schemeClr val="lt1"/>
                </a:solidFill>
              </a:rPr>
              <a:t>Funding </a:t>
            </a:r>
            <a:r>
              <a:rPr lang="en" sz="400">
                <a:solidFill>
                  <a:schemeClr val="lt1"/>
                </a:solidFill>
              </a:rPr>
              <a:t>Acknowledgement</a:t>
            </a:r>
            <a:r>
              <a:rPr lang="en" sz="400">
                <a:solidFill>
                  <a:schemeClr val="lt1"/>
                </a:solidFill>
              </a:rPr>
              <a:t> </a:t>
            </a:r>
            <a:endParaRPr sz="400">
              <a:solidFill>
                <a:schemeClr val="lt1"/>
              </a:solidFill>
            </a:endParaRPr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597475" y="4638025"/>
            <a:ext cx="450974" cy="45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ASU Health Solutions 1">
      <a:dk1>
        <a:srgbClr val="000000"/>
      </a:dk1>
      <a:lt1>
        <a:srgbClr val="FFFFFF"/>
      </a:lt1>
      <a:dk2>
        <a:srgbClr val="8C1D40"/>
      </a:dk2>
      <a:lt2>
        <a:srgbClr val="FFC627"/>
      </a:lt2>
      <a:accent1>
        <a:srgbClr val="FFC627"/>
      </a:accent1>
      <a:accent2>
        <a:srgbClr val="78BE20"/>
      </a:accent2>
      <a:accent3>
        <a:srgbClr val="FF7F32"/>
      </a:accent3>
      <a:accent4>
        <a:srgbClr val="00A3E0"/>
      </a:accent4>
      <a:accent5>
        <a:srgbClr val="5C6670"/>
      </a:accent5>
      <a:accent6>
        <a:srgbClr val="8C1D40"/>
      </a:accent6>
      <a:hlink>
        <a:srgbClr val="5C6670"/>
      </a:hlink>
      <a:folHlink>
        <a:srgbClr val="5C667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